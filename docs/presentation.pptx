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2" r:id="rId7"/>
    <p:sldId id="263" r:id="rId8"/>
    <p:sldId id="266" r:id="rId9"/>
  </p:sldIdLst>
  <p:sldSz cx="9144000" cy="5143500" type="screen16x9"/>
  <p:notesSz cx="6858000" cy="9144000"/>
  <p:embeddedFontLst>
    <p:embeddedFont>
      <p:font typeface="Manrope" panose="020B0604020202020204" charset="0"/>
      <p:regular r:id="rId11"/>
      <p:bold r:id="rId12"/>
    </p:embeddedFont>
    <p:embeddedFont>
      <p:font typeface="Manrope SemiBold" panose="020B0604020202020204"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6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Status Code 404</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408600"/>
          </a:xfrm>
          <a:prstGeom prst="rect">
            <a:avLst/>
          </a:prstGeom>
          <a:noFill/>
          <a:ln>
            <a:noFill/>
          </a:ln>
        </p:spPr>
        <p:txBody>
          <a:bodyPr spcFirstLastPara="1" wrap="square" lIns="91425" tIns="91425" rIns="91425" bIns="91425" anchor="t" anchorCtr="0">
            <a:normAutofit/>
          </a:bodyPr>
          <a:lstStyle/>
          <a:p>
            <a:pPr marL="0" lvl="0" indent="0" algn="l" rtl="0">
              <a:lnSpc>
                <a:spcPct val="7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Problem Statement : AI Multimodal Interview Assistant </a:t>
            </a:r>
            <a:endParaRPr sz="16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Saon Dey</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18" y="-1"/>
            <a:ext cx="9144018" cy="5143501"/>
          </a:xfrm>
          <a:prstGeom prst="rect">
            <a:avLst/>
          </a:prstGeom>
          <a:noFill/>
          <a:ln>
            <a:noFill/>
          </a:ln>
        </p:spPr>
      </p:pic>
      <p:sp>
        <p:nvSpPr>
          <p:cNvPr id="63" name="Google Shape;63;p14"/>
          <p:cNvSpPr txBox="1"/>
          <p:nvPr/>
        </p:nvSpPr>
        <p:spPr>
          <a:xfrm>
            <a:off x="271994" y="571091"/>
            <a:ext cx="4797185" cy="80050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sz="1800" b="1" dirty="0">
                <a:solidFill>
                  <a:srgbClr val="202729"/>
                </a:solidFill>
                <a:latin typeface="Manrope"/>
                <a:ea typeface="Manrope"/>
                <a:cs typeface="Manrope"/>
                <a:sym typeface="Manrope"/>
              </a:rPr>
              <a:t>Brief about the Idea:</a:t>
            </a:r>
            <a:endParaRPr sz="1800" b="1" dirty="0">
              <a:solidFill>
                <a:srgbClr val="202729"/>
              </a:solidFill>
              <a:latin typeface="Manrope"/>
              <a:ea typeface="Manrope"/>
              <a:cs typeface="Manrope"/>
              <a:sym typeface="Manrope"/>
            </a:endParaRPr>
          </a:p>
        </p:txBody>
      </p:sp>
      <p:sp>
        <p:nvSpPr>
          <p:cNvPr id="2" name="TextBox 1">
            <a:extLst>
              <a:ext uri="{FF2B5EF4-FFF2-40B4-BE49-F238E27FC236}">
                <a16:creationId xmlns:a16="http://schemas.microsoft.com/office/drawing/2014/main" id="{CFFD9D0F-37DF-44EE-8513-AC0CB05BE26C}"/>
              </a:ext>
            </a:extLst>
          </p:cNvPr>
          <p:cNvSpPr txBox="1"/>
          <p:nvPr/>
        </p:nvSpPr>
        <p:spPr>
          <a:xfrm>
            <a:off x="74847" y="1548426"/>
            <a:ext cx="4994332" cy="2893100"/>
          </a:xfrm>
          <a:prstGeom prst="rect">
            <a:avLst/>
          </a:prstGeom>
          <a:noFill/>
          <a:ln>
            <a:solidFill>
              <a:schemeClr val="tx1"/>
            </a:solidFill>
          </a:ln>
        </p:spPr>
        <p:txBody>
          <a:bodyPr wrap="square" rtlCol="0">
            <a:spAutoFit/>
          </a:bodyPr>
          <a:lstStyle/>
          <a:p>
            <a:pPr algn="just"/>
            <a:r>
              <a:rPr lang="en-US" dirty="0"/>
              <a:t>The AI Multi-Modal Interview System functions as an intelligent agent operating within a mock or real interview environment. It interacts with the candidate using sensors such as a camera and microphone to capture facial expressions, eye movements, voice tone, and speech patterns. Through Speech Emotion Recognition (SER) and Facial Emotion Recognition (FER), the system analyzes emotions, confidence, and engagement levels. Based on this analysis, a Large Language Model (LLM) generates adaptive follow-up questions and adjusts the interview flow. It also provides feedback and detects distractions. This helps students perform better in real interviews.</a:t>
            </a:r>
          </a:p>
          <a:p>
            <a:endParaRPr lang="en-IN" dirty="0"/>
          </a:p>
        </p:txBody>
      </p:sp>
      <p:pic>
        <p:nvPicPr>
          <p:cNvPr id="4" name="Picture 3">
            <a:extLst>
              <a:ext uri="{FF2B5EF4-FFF2-40B4-BE49-F238E27FC236}">
                <a16:creationId xmlns:a16="http://schemas.microsoft.com/office/drawing/2014/main" id="{9ACBDA8A-439B-4C61-85F3-5B759D4D02E3}"/>
              </a:ext>
            </a:extLst>
          </p:cNvPr>
          <p:cNvPicPr>
            <a:picLocks noChangeAspect="1"/>
          </p:cNvPicPr>
          <p:nvPr/>
        </p:nvPicPr>
        <p:blipFill>
          <a:blip r:embed="rId4"/>
          <a:stretch>
            <a:fillRect/>
          </a:stretch>
        </p:blipFill>
        <p:spPr>
          <a:xfrm>
            <a:off x="5386976" y="804042"/>
            <a:ext cx="3617854" cy="3645367"/>
          </a:xfrm>
          <a:prstGeom prst="rect">
            <a:avLst/>
          </a:prstGeom>
          <a:ln>
            <a:solidFill>
              <a:schemeClr val="tx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18" y="-9626"/>
            <a:ext cx="9144018" cy="5143501"/>
          </a:xfrm>
          <a:prstGeom prst="rect">
            <a:avLst/>
          </a:prstGeom>
          <a:noFill/>
          <a:ln>
            <a:noFill/>
          </a:ln>
        </p:spPr>
      </p:pic>
      <p:sp>
        <p:nvSpPr>
          <p:cNvPr id="69" name="Google Shape;69;p15"/>
          <p:cNvSpPr txBox="1"/>
          <p:nvPr/>
        </p:nvSpPr>
        <p:spPr>
          <a:xfrm>
            <a:off x="90632" y="3012134"/>
            <a:ext cx="8962716" cy="2064363"/>
          </a:xfrm>
          <a:prstGeom prst="rect">
            <a:avLst/>
          </a:prstGeom>
          <a:noFill/>
          <a:ln>
            <a:solidFill>
              <a:schemeClr val="tx1"/>
            </a:solidFill>
          </a:ln>
        </p:spPr>
        <p:txBody>
          <a:bodyPr spcFirstLastPara="1" wrap="square" lIns="91425" tIns="91425" rIns="91425" bIns="91425" anchor="t" anchorCtr="0">
            <a:normAutofit fontScale="25000" lnSpcReduction="20000"/>
          </a:bodyPr>
          <a:lstStyle/>
          <a:p>
            <a:pPr marL="127000" lvl="0" algn="l" rtl="0">
              <a:lnSpc>
                <a:spcPct val="115000"/>
              </a:lnSpc>
              <a:spcBef>
                <a:spcPts val="1200"/>
              </a:spcBef>
              <a:spcAft>
                <a:spcPts val="0"/>
              </a:spcAft>
              <a:buClr>
                <a:srgbClr val="202729"/>
              </a:buClr>
              <a:buSzPts val="1600"/>
            </a:pPr>
            <a:r>
              <a:rPr lang="en-US" sz="6400" b="1" dirty="0">
                <a:solidFill>
                  <a:srgbClr val="202729"/>
                </a:solidFill>
                <a:latin typeface="Manrope SemiBold"/>
                <a:ea typeface="Manrope SemiBold"/>
                <a:cs typeface="Manrope SemiBold"/>
                <a:sym typeface="Manrope SemiBold"/>
              </a:rPr>
              <a:t>USP of the proposed solution:</a:t>
            </a:r>
          </a:p>
          <a:p>
            <a:pPr marL="298450" lvl="0" indent="-171450" algn="l" rtl="0">
              <a:lnSpc>
                <a:spcPct val="115000"/>
              </a:lnSpc>
              <a:spcBef>
                <a:spcPts val="1200"/>
              </a:spcBef>
              <a:spcAft>
                <a:spcPts val="0"/>
              </a:spcAft>
              <a:buClr>
                <a:srgbClr val="202729"/>
              </a:buClr>
              <a:buSzPts val="1600"/>
              <a:buFont typeface="Arial" panose="020B0604020202020204" pitchFamily="34" charset="0"/>
              <a:buChar char="•"/>
            </a:pPr>
            <a:r>
              <a:rPr lang="en-US" sz="4800" dirty="0">
                <a:solidFill>
                  <a:srgbClr val="202729"/>
                </a:solidFill>
                <a:latin typeface="Manrope SemiBold"/>
                <a:ea typeface="Manrope SemiBold"/>
                <a:cs typeface="Manrope SemiBold"/>
                <a:sym typeface="Manrope SemiBold"/>
              </a:rPr>
              <a:t>Comprehensive Candidate Evaluation – Analyzes voice tone, facial expressions, and answer content together to provide a complete understanding of the candidate’s performance</a:t>
            </a:r>
            <a:r>
              <a:rPr lang="en-US" sz="4800" b="1" dirty="0">
                <a:solidFill>
                  <a:srgbClr val="202729"/>
                </a:solidFill>
                <a:latin typeface="Manrope SemiBold"/>
                <a:ea typeface="Manrope SemiBold"/>
                <a:cs typeface="Manrope SemiBold"/>
                <a:sym typeface="Manrope SemiBold"/>
              </a:rPr>
              <a:t>. </a:t>
            </a:r>
          </a:p>
          <a:p>
            <a:pPr marL="298450" lvl="0" indent="-171450" algn="l" rtl="0">
              <a:lnSpc>
                <a:spcPct val="115000"/>
              </a:lnSpc>
              <a:spcBef>
                <a:spcPts val="1200"/>
              </a:spcBef>
              <a:spcAft>
                <a:spcPts val="0"/>
              </a:spcAft>
              <a:buClr>
                <a:srgbClr val="202729"/>
              </a:buClr>
              <a:buSzPts val="1600"/>
              <a:buFont typeface="Arial" panose="020B0604020202020204" pitchFamily="34" charset="0"/>
              <a:buChar char="•"/>
            </a:pPr>
            <a:r>
              <a:rPr lang="en-US" sz="4800" dirty="0">
                <a:solidFill>
                  <a:srgbClr val="202729"/>
                </a:solidFill>
                <a:latin typeface="Manrope SemiBold"/>
                <a:ea typeface="Manrope SemiBold"/>
                <a:cs typeface="Manrope SemiBold"/>
                <a:sym typeface="Manrope SemiBold"/>
              </a:rPr>
              <a:t>Adaptive &amp; Engaging Interviews </a:t>
            </a:r>
            <a:r>
              <a:rPr lang="en-US" sz="4800" b="1" dirty="0">
                <a:solidFill>
                  <a:srgbClr val="202729"/>
                </a:solidFill>
                <a:latin typeface="Manrope SemiBold"/>
                <a:ea typeface="Manrope SemiBold"/>
                <a:cs typeface="Manrope SemiBold"/>
                <a:sym typeface="Manrope SemiBold"/>
              </a:rPr>
              <a:t>– </a:t>
            </a:r>
            <a:r>
              <a:rPr lang="en-US" sz="4800" dirty="0">
                <a:solidFill>
                  <a:srgbClr val="202729"/>
                </a:solidFill>
                <a:latin typeface="Manrope SemiBold"/>
                <a:ea typeface="Manrope SemiBold"/>
                <a:cs typeface="Manrope SemiBold"/>
                <a:sym typeface="Manrope SemiBold"/>
              </a:rPr>
              <a:t>Dynamically adjusts questions in real time based on candidate responses, keeping the interview relevant and interactive.</a:t>
            </a:r>
          </a:p>
          <a:p>
            <a:pPr marL="298450" lvl="0" indent="-171450" algn="l" rtl="0">
              <a:lnSpc>
                <a:spcPct val="115000"/>
              </a:lnSpc>
              <a:spcBef>
                <a:spcPts val="1200"/>
              </a:spcBef>
              <a:spcAft>
                <a:spcPts val="0"/>
              </a:spcAft>
              <a:buClr>
                <a:srgbClr val="202729"/>
              </a:buClr>
              <a:buSzPts val="1600"/>
              <a:buFont typeface="Arial" panose="020B0604020202020204" pitchFamily="34" charset="0"/>
              <a:buChar char="•"/>
            </a:pPr>
            <a:r>
              <a:rPr lang="en-US" sz="4800" dirty="0">
                <a:solidFill>
                  <a:srgbClr val="202729"/>
                </a:solidFill>
                <a:latin typeface="Manrope SemiBold"/>
                <a:ea typeface="Manrope SemiBold"/>
                <a:cs typeface="Manrope SemiBold"/>
                <a:sym typeface="Manrope SemiBold"/>
              </a:rPr>
              <a:t>Actionable Feedback &amp; Insights </a:t>
            </a:r>
            <a:r>
              <a:rPr lang="en-US" sz="4800" b="1" dirty="0">
                <a:solidFill>
                  <a:srgbClr val="202729"/>
                </a:solidFill>
                <a:latin typeface="Manrope SemiBold"/>
                <a:ea typeface="Manrope SemiBold"/>
                <a:cs typeface="Manrope SemiBold"/>
                <a:sym typeface="Manrope SemiBold"/>
              </a:rPr>
              <a:t>– </a:t>
            </a:r>
            <a:r>
              <a:rPr lang="en-US" sz="4800" dirty="0">
                <a:solidFill>
                  <a:srgbClr val="202729"/>
                </a:solidFill>
                <a:latin typeface="Manrope SemiBold"/>
                <a:ea typeface="Manrope SemiBold"/>
                <a:cs typeface="Manrope SemiBold"/>
                <a:sym typeface="Manrope SemiBold"/>
              </a:rPr>
              <a:t>Provides detailed performance reports and analytics, helping employers make better hiring decisions and candidates improve for future interviews.</a:t>
            </a:r>
          </a:p>
          <a:p>
            <a:pPr marL="0" lvl="0" indent="0" algn="l" rtl="0">
              <a:lnSpc>
                <a:spcPct val="115000"/>
              </a:lnSpc>
              <a:spcBef>
                <a:spcPts val="1200"/>
              </a:spcBef>
              <a:spcAft>
                <a:spcPts val="1200"/>
              </a:spcAft>
              <a:buSzPts val="935"/>
              <a:buNone/>
            </a:pPr>
            <a:endParaRPr lang="en-US" sz="1600" dirty="0">
              <a:solidFill>
                <a:srgbClr val="202729"/>
              </a:solidFill>
              <a:latin typeface="Manrope SemiBold"/>
              <a:ea typeface="Manrope SemiBold"/>
              <a:cs typeface="Manrope SemiBold"/>
              <a:sym typeface="Manrope SemiBold"/>
            </a:endParaRPr>
          </a:p>
        </p:txBody>
      </p:sp>
      <p:sp>
        <p:nvSpPr>
          <p:cNvPr id="2" name="TextBox 1">
            <a:extLst>
              <a:ext uri="{FF2B5EF4-FFF2-40B4-BE49-F238E27FC236}">
                <a16:creationId xmlns:a16="http://schemas.microsoft.com/office/drawing/2014/main" id="{6582C5F9-E7C7-4ED8-9D1B-FEB58A04F454}"/>
              </a:ext>
            </a:extLst>
          </p:cNvPr>
          <p:cNvSpPr txBox="1"/>
          <p:nvPr/>
        </p:nvSpPr>
        <p:spPr>
          <a:xfrm>
            <a:off x="4296927" y="517027"/>
            <a:ext cx="4756421" cy="2495107"/>
          </a:xfrm>
          <a:prstGeom prst="rect">
            <a:avLst/>
          </a:prstGeom>
          <a:noFill/>
          <a:ln>
            <a:solidFill>
              <a:schemeClr val="tx1"/>
            </a:solidFill>
          </a:ln>
        </p:spPr>
        <p:txBody>
          <a:bodyPr wrap="square" rtlCol="0">
            <a:spAutoFit/>
          </a:bodyPr>
          <a:lstStyle/>
          <a:p>
            <a:pPr marL="127000" lvl="0" rtl="0">
              <a:lnSpc>
                <a:spcPct val="115000"/>
              </a:lnSpc>
              <a:spcBef>
                <a:spcPts val="1200"/>
              </a:spcBef>
              <a:spcAft>
                <a:spcPts val="0"/>
              </a:spcAft>
              <a:buClr>
                <a:srgbClr val="202729"/>
              </a:buClr>
              <a:buSzPts val="1600"/>
            </a:pPr>
            <a:r>
              <a:rPr lang="en-US" sz="1600" b="1" dirty="0">
                <a:solidFill>
                  <a:srgbClr val="202729"/>
                </a:solidFill>
                <a:latin typeface="Manrope SemiBold"/>
                <a:ea typeface="Manrope SemiBold"/>
                <a:cs typeface="Manrope SemiBold"/>
                <a:sym typeface="Manrope SemiBold"/>
              </a:rPr>
              <a:t>How the Proposed Solution Solves the Problem:</a:t>
            </a:r>
          </a:p>
          <a:p>
            <a:pPr marL="412750" lvl="1" indent="-285750">
              <a:spcBef>
                <a:spcPts val="1200"/>
              </a:spcBef>
              <a:buClr>
                <a:srgbClr val="202729"/>
              </a:buClr>
              <a:buSzPts val="1600"/>
              <a:buFont typeface="Arial" panose="020B0604020202020204" pitchFamily="34" charset="0"/>
              <a:buChar char="•"/>
            </a:pPr>
            <a:r>
              <a:rPr lang="en-US" sz="1200" dirty="0">
                <a:solidFill>
                  <a:srgbClr val="202729"/>
                </a:solidFill>
                <a:latin typeface="Manrope SemiBold"/>
                <a:ea typeface="Manrope SemiBold"/>
                <a:cs typeface="Manrope SemiBold"/>
                <a:sym typeface="Manrope SemiBold"/>
              </a:rPr>
              <a:t>Real-time Feedback: Detects nervousness, distractions, and weak points during mock interviews</a:t>
            </a:r>
          </a:p>
          <a:p>
            <a:pPr marL="412750" lvl="1" indent="-285750">
              <a:spcBef>
                <a:spcPts val="1200"/>
              </a:spcBef>
              <a:buClr>
                <a:srgbClr val="202729"/>
              </a:buClr>
              <a:buSzPts val="1600"/>
              <a:buFont typeface="Arial" panose="020B0604020202020204" pitchFamily="34" charset="0"/>
              <a:buChar char="•"/>
            </a:pPr>
            <a:r>
              <a:rPr lang="en-US" sz="1200" dirty="0">
                <a:solidFill>
                  <a:srgbClr val="202729"/>
                </a:solidFill>
                <a:latin typeface="Manrope SemiBold"/>
                <a:ea typeface="Manrope SemiBold"/>
                <a:cs typeface="Manrope SemiBold"/>
                <a:sym typeface="Manrope SemiBold"/>
              </a:rPr>
              <a:t>Personalized Practice</a:t>
            </a:r>
            <a:r>
              <a:rPr lang="en-US" sz="1200" b="1" dirty="0">
                <a:solidFill>
                  <a:srgbClr val="202729"/>
                </a:solidFill>
                <a:latin typeface="Manrope SemiBold"/>
                <a:ea typeface="Manrope SemiBold"/>
                <a:cs typeface="Manrope SemiBold"/>
                <a:sym typeface="Manrope SemiBold"/>
              </a:rPr>
              <a:t>: </a:t>
            </a:r>
            <a:r>
              <a:rPr lang="en-US" sz="1200" dirty="0">
                <a:solidFill>
                  <a:srgbClr val="202729"/>
                </a:solidFill>
                <a:latin typeface="Manrope SemiBold"/>
                <a:ea typeface="Manrope SemiBold"/>
                <a:cs typeface="Manrope SemiBold"/>
                <a:sym typeface="Manrope SemiBold"/>
              </a:rPr>
              <a:t>Adapts difficulty and question types based on performance patterns</a:t>
            </a:r>
          </a:p>
          <a:p>
            <a:pPr marL="412750" lvl="1" indent="-285750">
              <a:spcBef>
                <a:spcPts val="1200"/>
              </a:spcBef>
              <a:buClr>
                <a:srgbClr val="202729"/>
              </a:buClr>
              <a:buSzPts val="1600"/>
              <a:buFont typeface="Arial" panose="020B0604020202020204" pitchFamily="34" charset="0"/>
              <a:buChar char="•"/>
            </a:pPr>
            <a:r>
              <a:rPr lang="en-US" sz="1200" dirty="0">
                <a:solidFill>
                  <a:srgbClr val="202729"/>
                </a:solidFill>
                <a:latin typeface="Manrope SemiBold"/>
                <a:ea typeface="Manrope SemiBold"/>
                <a:cs typeface="Manrope SemiBold"/>
                <a:sym typeface="Manrope SemiBold"/>
              </a:rPr>
              <a:t>Actionable Insights: Detailed reports on confidence, emotional control, and content quality</a:t>
            </a:r>
          </a:p>
          <a:p>
            <a:endParaRPr lang="en-IN" dirty="0"/>
          </a:p>
        </p:txBody>
      </p:sp>
      <p:sp>
        <p:nvSpPr>
          <p:cNvPr id="8" name="TextBox 7">
            <a:extLst>
              <a:ext uri="{FF2B5EF4-FFF2-40B4-BE49-F238E27FC236}">
                <a16:creationId xmlns:a16="http://schemas.microsoft.com/office/drawing/2014/main" id="{21E9ADA8-6C7D-4B2A-B4D2-5AE5F485D277}"/>
              </a:ext>
            </a:extLst>
          </p:cNvPr>
          <p:cNvSpPr txBox="1"/>
          <p:nvPr/>
        </p:nvSpPr>
        <p:spPr>
          <a:xfrm>
            <a:off x="90632" y="517028"/>
            <a:ext cx="4206295" cy="2495107"/>
          </a:xfrm>
          <a:prstGeom prst="rect">
            <a:avLst/>
          </a:prstGeom>
          <a:noFill/>
          <a:ln>
            <a:solidFill>
              <a:schemeClr val="tx1"/>
            </a:solidFill>
          </a:ln>
        </p:spPr>
        <p:txBody>
          <a:bodyPr wrap="square">
            <a:spAutoFit/>
          </a:bodyPr>
          <a:lstStyle/>
          <a:p>
            <a:pPr marL="127000" lvl="0" algn="l" rtl="0">
              <a:lnSpc>
                <a:spcPct val="150000"/>
              </a:lnSpc>
              <a:spcBef>
                <a:spcPts val="1200"/>
              </a:spcBef>
              <a:spcAft>
                <a:spcPts val="0"/>
              </a:spcAft>
              <a:buClr>
                <a:srgbClr val="202729"/>
              </a:buClr>
              <a:buSzPts val="1600"/>
            </a:pPr>
            <a:r>
              <a:rPr lang="en-US" sz="1600" b="1" dirty="0">
                <a:solidFill>
                  <a:srgbClr val="202729"/>
                </a:solidFill>
                <a:latin typeface="Manrope SemiBold"/>
                <a:ea typeface="Manrope SemiBold"/>
                <a:cs typeface="Manrope SemiBold"/>
                <a:sym typeface="Manrope SemiBold"/>
              </a:rPr>
              <a:t>Difference from Existing Solutions</a:t>
            </a:r>
            <a:r>
              <a:rPr lang="en-US" sz="2000" b="1" dirty="0">
                <a:solidFill>
                  <a:srgbClr val="202729"/>
                </a:solidFill>
                <a:latin typeface="Manrope SemiBold"/>
                <a:ea typeface="Manrope SemiBold"/>
                <a:cs typeface="Manrope SemiBold"/>
                <a:sym typeface="Manrope SemiBold"/>
              </a:rPr>
              <a:t>:</a:t>
            </a:r>
          </a:p>
          <a:p>
            <a:pPr marL="412750" lvl="0" indent="-285750" algn="l" rtl="0">
              <a:lnSpc>
                <a:spcPct val="150000"/>
              </a:lnSpc>
              <a:spcBef>
                <a:spcPts val="1200"/>
              </a:spcBef>
              <a:spcAft>
                <a:spcPts val="0"/>
              </a:spcAft>
              <a:buClr>
                <a:srgbClr val="202729"/>
              </a:buClr>
              <a:buSzPts val="1600"/>
              <a:buFont typeface="Arial" panose="020B0604020202020204" pitchFamily="34" charset="0"/>
              <a:buChar char="•"/>
            </a:pPr>
            <a:r>
              <a:rPr lang="en-US" sz="1200" dirty="0">
                <a:solidFill>
                  <a:srgbClr val="202729"/>
                </a:solidFill>
                <a:latin typeface="Manrope SemiBold"/>
                <a:ea typeface="Manrope SemiBold"/>
                <a:cs typeface="Manrope SemiBold"/>
                <a:sym typeface="Manrope SemiBold"/>
              </a:rPr>
              <a:t>Multimodal Integration: Unifies LLM, Speech Emotion Recognition (SER), and Facial Emotion Recognition (FER)</a:t>
            </a:r>
          </a:p>
          <a:p>
            <a:pPr marL="412750" lvl="0" indent="-285750" algn="l" rtl="0">
              <a:lnSpc>
                <a:spcPct val="150000"/>
              </a:lnSpc>
              <a:spcBef>
                <a:spcPts val="1200"/>
              </a:spcBef>
              <a:spcAft>
                <a:spcPts val="0"/>
              </a:spcAft>
              <a:buClr>
                <a:srgbClr val="202729"/>
              </a:buClr>
              <a:buSzPts val="1600"/>
              <a:buFont typeface="Arial" panose="020B0604020202020204" pitchFamily="34" charset="0"/>
              <a:buChar char="•"/>
            </a:pPr>
            <a:r>
              <a:rPr lang="en-US" sz="1200" dirty="0">
                <a:solidFill>
                  <a:srgbClr val="202729"/>
                </a:solidFill>
                <a:latin typeface="Manrope SemiBold"/>
                <a:ea typeface="Manrope SemiBold"/>
                <a:cs typeface="Manrope SemiBold"/>
                <a:sym typeface="Manrope SemiBold"/>
              </a:rPr>
              <a:t>Adaptive Questions</a:t>
            </a:r>
            <a:r>
              <a:rPr lang="en-US" sz="1200" b="1" dirty="0">
                <a:solidFill>
                  <a:srgbClr val="202729"/>
                </a:solidFill>
                <a:latin typeface="Manrope SemiBold"/>
                <a:ea typeface="Manrope SemiBold"/>
                <a:cs typeface="Manrope SemiBold"/>
                <a:sym typeface="Manrope SemiBold"/>
              </a:rPr>
              <a:t>: </a:t>
            </a:r>
            <a:r>
              <a:rPr lang="en-US" sz="1200" dirty="0">
                <a:solidFill>
                  <a:srgbClr val="202729"/>
                </a:solidFill>
                <a:latin typeface="Manrope SemiBold"/>
                <a:ea typeface="Manrope SemiBold"/>
                <a:cs typeface="Manrope SemiBold"/>
                <a:sym typeface="Manrope SemiBold"/>
              </a:rPr>
              <a:t>Real-time follow-up questions based on emotional and verbal cues, not static scripts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18" y="-5719"/>
            <a:ext cx="9144018" cy="5143501"/>
          </a:xfrm>
          <a:prstGeom prst="rect">
            <a:avLst/>
          </a:prstGeom>
          <a:noFill/>
          <a:ln>
            <a:noFill/>
          </a:ln>
        </p:spPr>
      </p:pic>
      <p:pic>
        <p:nvPicPr>
          <p:cNvPr id="15" name="Picture 14">
            <a:extLst>
              <a:ext uri="{FF2B5EF4-FFF2-40B4-BE49-F238E27FC236}">
                <a16:creationId xmlns:a16="http://schemas.microsoft.com/office/drawing/2014/main" id="{EEA8E708-B1F5-47F2-9164-6FB117C0A02E}"/>
              </a:ext>
            </a:extLst>
          </p:cNvPr>
          <p:cNvPicPr>
            <a:picLocks noChangeAspect="1"/>
          </p:cNvPicPr>
          <p:nvPr/>
        </p:nvPicPr>
        <p:blipFill>
          <a:blip r:embed="rId4"/>
          <a:stretch>
            <a:fillRect/>
          </a:stretch>
        </p:blipFill>
        <p:spPr>
          <a:xfrm>
            <a:off x="0" y="542202"/>
            <a:ext cx="9144000" cy="45185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321513" y="498120"/>
            <a:ext cx="4722612" cy="59476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0"/>
              </a:spcAft>
              <a:buSzPts val="935"/>
              <a:buNone/>
            </a:pPr>
            <a:r>
              <a:rPr lang="en-GB" sz="8000" b="1" dirty="0">
                <a:solidFill>
                  <a:srgbClr val="202729"/>
                </a:solidFill>
                <a:latin typeface="Manrope"/>
                <a:ea typeface="Manrope"/>
                <a:cs typeface="Manrope"/>
                <a:sym typeface="Manrope"/>
              </a:rPr>
              <a:t>Use-case diagram:</a:t>
            </a:r>
            <a:endParaRPr sz="80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r>
              <a:rPr lang="en-GB" dirty="0">
                <a:solidFill>
                  <a:srgbClr val="434343"/>
                </a:solidFill>
                <a:latin typeface="Manrope"/>
                <a:ea typeface="Manrope"/>
                <a:cs typeface="Manrope"/>
                <a:sym typeface="Manrope"/>
              </a:rPr>
              <a:t>.</a:t>
            </a:r>
            <a:endParaRPr dirty="0">
              <a:solidFill>
                <a:srgbClr val="434343"/>
              </a:solidFill>
              <a:latin typeface="Manrope"/>
              <a:ea typeface="Manrope"/>
              <a:cs typeface="Manrope"/>
              <a:sym typeface="Manrope"/>
            </a:endParaRPr>
          </a:p>
        </p:txBody>
      </p:sp>
      <p:pic>
        <p:nvPicPr>
          <p:cNvPr id="5" name="Picture 4">
            <a:extLst>
              <a:ext uri="{FF2B5EF4-FFF2-40B4-BE49-F238E27FC236}">
                <a16:creationId xmlns:a16="http://schemas.microsoft.com/office/drawing/2014/main" id="{B0D5600A-50FD-4094-B48D-A975097087DB}"/>
              </a:ext>
            </a:extLst>
          </p:cNvPr>
          <p:cNvPicPr>
            <a:picLocks noChangeAspect="1"/>
          </p:cNvPicPr>
          <p:nvPr/>
        </p:nvPicPr>
        <p:blipFill>
          <a:blip r:embed="rId4"/>
          <a:stretch>
            <a:fillRect/>
          </a:stretch>
        </p:blipFill>
        <p:spPr>
          <a:xfrm>
            <a:off x="1226635" y="917332"/>
            <a:ext cx="6452839" cy="39853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194804" y="597908"/>
            <a:ext cx="5771466" cy="464736"/>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SzPts val="935"/>
              <a:buNone/>
            </a:pPr>
            <a:r>
              <a:rPr lang="en-GB" sz="7200" b="1" dirty="0">
                <a:solidFill>
                  <a:srgbClr val="202729"/>
                </a:solidFill>
                <a:latin typeface="Manrope"/>
                <a:ea typeface="Manrope"/>
                <a:cs typeface="Manrope"/>
                <a:sym typeface="Manrope"/>
              </a:rPr>
              <a:t>Architecture diagram of the proposed solution :</a:t>
            </a:r>
            <a:r>
              <a:rPr lang="en-GB" sz="1700" b="1" dirty="0">
                <a:solidFill>
                  <a:srgbClr val="202729"/>
                </a:solidFill>
                <a:latin typeface="Manrope"/>
                <a:ea typeface="Manrope"/>
                <a:cs typeface="Manrope"/>
                <a:sym typeface="Manrope"/>
              </a:rPr>
              <a:t>:</a:t>
            </a:r>
            <a:endParaRPr dirty="0">
              <a:solidFill>
                <a:srgbClr val="434343"/>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7CDB15A9-3BFF-4E4A-B69C-51085C0BD323}"/>
              </a:ext>
            </a:extLst>
          </p:cNvPr>
          <p:cNvPicPr>
            <a:picLocks noChangeAspect="1"/>
          </p:cNvPicPr>
          <p:nvPr/>
        </p:nvPicPr>
        <p:blipFill>
          <a:blip r:embed="rId4"/>
          <a:stretch>
            <a:fillRect/>
          </a:stretch>
        </p:blipFill>
        <p:spPr>
          <a:xfrm>
            <a:off x="346842" y="1062644"/>
            <a:ext cx="6589218" cy="39906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18" y="10360"/>
            <a:ext cx="9144018" cy="5143501"/>
          </a:xfrm>
          <a:prstGeom prst="rect">
            <a:avLst/>
          </a:prstGeom>
          <a:noFill/>
          <a:ln>
            <a:noFill/>
          </a:ln>
        </p:spPr>
      </p:pic>
      <p:sp>
        <p:nvSpPr>
          <p:cNvPr id="99" name="Google Shape;99;p20"/>
          <p:cNvSpPr txBox="1"/>
          <p:nvPr/>
        </p:nvSpPr>
        <p:spPr>
          <a:xfrm>
            <a:off x="185576" y="490896"/>
            <a:ext cx="7531800" cy="429222"/>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SzPts val="935"/>
              <a:buNone/>
            </a:pPr>
            <a:r>
              <a:rPr lang="en-GB" sz="7200" b="1" dirty="0">
                <a:solidFill>
                  <a:srgbClr val="202729"/>
                </a:solidFill>
                <a:latin typeface="Manrope"/>
                <a:ea typeface="Manrope"/>
                <a:cs typeface="Manrope"/>
                <a:sym typeface="Manrope"/>
              </a:rPr>
              <a:t>Technologies to be used in the solution :</a:t>
            </a:r>
            <a:r>
              <a:rPr lang="en-GB" sz="1700" b="1" dirty="0">
                <a:solidFill>
                  <a:srgbClr val="202729"/>
                </a:solidFill>
                <a:latin typeface="Manrope"/>
                <a:ea typeface="Manrope"/>
                <a:cs typeface="Manrope"/>
                <a:sym typeface="Manrope"/>
              </a:rPr>
              <a:t>:</a:t>
            </a:r>
            <a:endParaRPr dirty="0">
              <a:solidFill>
                <a:srgbClr val="434343"/>
              </a:solidFill>
              <a:latin typeface="Manrope"/>
              <a:ea typeface="Manrope"/>
              <a:cs typeface="Manrope"/>
              <a:sym typeface="Manrope"/>
            </a:endParaRPr>
          </a:p>
        </p:txBody>
      </p:sp>
      <p:sp>
        <p:nvSpPr>
          <p:cNvPr id="2" name="TextBox 1">
            <a:extLst>
              <a:ext uri="{FF2B5EF4-FFF2-40B4-BE49-F238E27FC236}">
                <a16:creationId xmlns:a16="http://schemas.microsoft.com/office/drawing/2014/main" id="{BF386D09-1F35-46FE-8A35-9D59CA54F8F4}"/>
              </a:ext>
            </a:extLst>
          </p:cNvPr>
          <p:cNvSpPr txBox="1"/>
          <p:nvPr/>
        </p:nvSpPr>
        <p:spPr>
          <a:xfrm>
            <a:off x="179304" y="971311"/>
            <a:ext cx="2263259"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1600" b="1" dirty="0"/>
              <a:t>FRONTEND:</a:t>
            </a:r>
          </a:p>
          <a:p>
            <a:pPr marL="285750" indent="-285750">
              <a:buFont typeface="Courier New" panose="02070309020205020404" pitchFamily="49" charset="0"/>
              <a:buChar char="o"/>
            </a:pPr>
            <a:r>
              <a:rPr lang="en-IN" sz="1600" dirty="0"/>
              <a:t>React.js</a:t>
            </a:r>
          </a:p>
          <a:p>
            <a:pPr marL="285750" indent="-285750">
              <a:buFont typeface="Courier New" panose="02070309020205020404" pitchFamily="49" charset="0"/>
              <a:buChar char="o"/>
            </a:pPr>
            <a:r>
              <a:rPr lang="en-IN" sz="1600" dirty="0"/>
              <a:t>Tailwind CSS</a:t>
            </a:r>
          </a:p>
          <a:p>
            <a:pPr marL="285750" indent="-285750">
              <a:buFont typeface="Courier New" panose="02070309020205020404" pitchFamily="49" charset="0"/>
              <a:buChar char="o"/>
            </a:pPr>
            <a:r>
              <a:rPr lang="en-IN" sz="1600" dirty="0"/>
              <a:t>TypeScript</a:t>
            </a:r>
          </a:p>
          <a:p>
            <a:pPr marL="285750" indent="-285750">
              <a:buFont typeface="Courier New" panose="02070309020205020404" pitchFamily="49" charset="0"/>
              <a:buChar char="o"/>
            </a:pPr>
            <a:r>
              <a:rPr lang="en-IN" sz="1600" dirty="0"/>
              <a:t>WebRTC</a:t>
            </a:r>
          </a:p>
          <a:p>
            <a:pPr marL="285750" indent="-285750">
              <a:buFont typeface="Courier New" panose="02070309020205020404" pitchFamily="49" charset="0"/>
              <a:buChar char="o"/>
            </a:pPr>
            <a:r>
              <a:rPr lang="en-IN" sz="1600" dirty="0" err="1"/>
              <a:t>MediaRecorder</a:t>
            </a:r>
            <a:r>
              <a:rPr lang="en-IN" sz="1600" dirty="0"/>
              <a:t> API</a:t>
            </a:r>
          </a:p>
          <a:p>
            <a:pPr marL="285750" indent="-285750">
              <a:buFont typeface="Courier New" panose="02070309020205020404" pitchFamily="49" charset="0"/>
              <a:buChar char="o"/>
            </a:pPr>
            <a:r>
              <a:rPr lang="en-IN" sz="1600" dirty="0"/>
              <a:t>WebSocket Client </a:t>
            </a:r>
          </a:p>
        </p:txBody>
      </p:sp>
      <p:sp>
        <p:nvSpPr>
          <p:cNvPr id="3" name="TextBox 2">
            <a:extLst>
              <a:ext uri="{FF2B5EF4-FFF2-40B4-BE49-F238E27FC236}">
                <a16:creationId xmlns:a16="http://schemas.microsoft.com/office/drawing/2014/main" id="{52E0DD9B-C523-49D1-9E5B-979B94C0C248}"/>
              </a:ext>
            </a:extLst>
          </p:cNvPr>
          <p:cNvSpPr txBox="1"/>
          <p:nvPr/>
        </p:nvSpPr>
        <p:spPr>
          <a:xfrm>
            <a:off x="179305" y="2838387"/>
            <a:ext cx="2263259"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BACKEND:</a:t>
            </a:r>
          </a:p>
          <a:p>
            <a:pPr marL="285750" indent="-285750">
              <a:buFont typeface="Courier New" panose="02070309020205020404" pitchFamily="49" charset="0"/>
              <a:buChar char="o"/>
            </a:pPr>
            <a:r>
              <a:rPr lang="en-IN" dirty="0"/>
              <a:t>Express.js</a:t>
            </a:r>
          </a:p>
          <a:p>
            <a:pPr marL="285750" indent="-285750">
              <a:buFont typeface="Courier New" panose="02070309020205020404" pitchFamily="49" charset="0"/>
              <a:buChar char="o"/>
            </a:pPr>
            <a:r>
              <a:rPr lang="en-IN" dirty="0"/>
              <a:t>Node.js</a:t>
            </a:r>
          </a:p>
          <a:p>
            <a:pPr marL="285750" indent="-285750">
              <a:buFont typeface="Courier New" panose="02070309020205020404" pitchFamily="49" charset="0"/>
              <a:buChar char="o"/>
            </a:pPr>
            <a:r>
              <a:rPr lang="en-IN" dirty="0"/>
              <a:t>WebSocket(WS)</a:t>
            </a:r>
          </a:p>
          <a:p>
            <a:pPr marL="285750" indent="-285750">
              <a:buFont typeface="Courier New" panose="02070309020205020404" pitchFamily="49" charset="0"/>
              <a:buChar char="o"/>
            </a:pPr>
            <a:r>
              <a:rPr lang="en-IN" dirty="0"/>
              <a:t>JWT Authentication</a:t>
            </a:r>
          </a:p>
          <a:p>
            <a:pPr marL="285750" indent="-285750">
              <a:buFont typeface="Courier New" panose="02070309020205020404" pitchFamily="49" charset="0"/>
              <a:buChar char="o"/>
            </a:pPr>
            <a:r>
              <a:rPr lang="en-IN" dirty="0"/>
              <a:t>RESTful API</a:t>
            </a:r>
          </a:p>
        </p:txBody>
      </p:sp>
      <p:sp>
        <p:nvSpPr>
          <p:cNvPr id="4" name="TextBox 3">
            <a:extLst>
              <a:ext uri="{FF2B5EF4-FFF2-40B4-BE49-F238E27FC236}">
                <a16:creationId xmlns:a16="http://schemas.microsoft.com/office/drawing/2014/main" id="{82A76109-B31D-4711-924C-07F08DC780E1}"/>
              </a:ext>
            </a:extLst>
          </p:cNvPr>
          <p:cNvSpPr txBox="1"/>
          <p:nvPr/>
        </p:nvSpPr>
        <p:spPr>
          <a:xfrm>
            <a:off x="6266793" y="920118"/>
            <a:ext cx="2691631" cy="33239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t>AI/ML:</a:t>
            </a:r>
          </a:p>
          <a:p>
            <a:pPr marL="285750" indent="-285750">
              <a:buFont typeface="Courier New" panose="02070309020205020404" pitchFamily="49" charset="0"/>
              <a:buChar char="o"/>
            </a:pPr>
            <a:r>
              <a:rPr lang="en-IN" dirty="0"/>
              <a:t>MongoDB Vector Search</a:t>
            </a:r>
          </a:p>
          <a:p>
            <a:pPr marL="285750" indent="-285750">
              <a:buFont typeface="Courier New" panose="02070309020205020404" pitchFamily="49" charset="0"/>
              <a:buChar char="o"/>
            </a:pPr>
            <a:r>
              <a:rPr lang="en-IN" dirty="0"/>
              <a:t>Google Gemini API-</a:t>
            </a:r>
          </a:p>
          <a:p>
            <a:pPr marL="285750" indent="-285750">
              <a:buFont typeface="Arial" panose="020B0604020202020204" pitchFamily="34" charset="0"/>
              <a:buChar char="•"/>
            </a:pPr>
            <a:r>
              <a:rPr lang="en-IN" dirty="0"/>
              <a:t>     </a:t>
            </a:r>
            <a:r>
              <a:rPr lang="en-IN" sz="1200" dirty="0"/>
              <a:t>gemini-embedding-001</a:t>
            </a:r>
          </a:p>
          <a:p>
            <a:pPr marL="285750" indent="-285750">
              <a:buFont typeface="Arial" panose="020B0604020202020204" pitchFamily="34" charset="0"/>
              <a:buChar char="•"/>
            </a:pPr>
            <a:r>
              <a:rPr lang="en-IN" dirty="0"/>
              <a:t>     </a:t>
            </a:r>
            <a:r>
              <a:rPr lang="en-IN" sz="1200" dirty="0"/>
              <a:t>gemini-2.0-flashlite</a:t>
            </a:r>
          </a:p>
          <a:p>
            <a:pPr marL="285750" indent="-285750">
              <a:buFont typeface="Courier New" panose="02070309020205020404" pitchFamily="49" charset="0"/>
              <a:buChar char="o"/>
            </a:pPr>
            <a:r>
              <a:rPr lang="en-IN" dirty="0"/>
              <a:t>TensorFlow</a:t>
            </a:r>
          </a:p>
          <a:p>
            <a:pPr marL="285750" indent="-285750">
              <a:buFont typeface="Courier New" panose="02070309020205020404" pitchFamily="49" charset="0"/>
              <a:buChar char="o"/>
            </a:pPr>
            <a:r>
              <a:rPr lang="en-IN" dirty="0" err="1"/>
              <a:t>PyTorch</a:t>
            </a:r>
            <a:endParaRPr lang="en-IN" dirty="0"/>
          </a:p>
          <a:p>
            <a:pPr marL="285750" indent="-285750">
              <a:buFont typeface="Courier New" panose="02070309020205020404" pitchFamily="49" charset="0"/>
              <a:buChar char="o"/>
            </a:pPr>
            <a:r>
              <a:rPr lang="en-IN" dirty="0" err="1"/>
              <a:t>librosa</a:t>
            </a:r>
            <a:endParaRPr lang="en-IN" dirty="0"/>
          </a:p>
          <a:p>
            <a:pPr marL="285750" indent="-285750">
              <a:buFont typeface="Courier New" panose="02070309020205020404" pitchFamily="49" charset="0"/>
              <a:buChar char="o"/>
            </a:pPr>
            <a:r>
              <a:rPr lang="en-IN" dirty="0"/>
              <a:t>OpenCV</a:t>
            </a:r>
          </a:p>
          <a:p>
            <a:pPr marL="285750" indent="-285750">
              <a:buFont typeface="Courier New" panose="02070309020205020404" pitchFamily="49" charset="0"/>
              <a:buChar char="o"/>
            </a:pPr>
            <a:r>
              <a:rPr lang="en-IN" dirty="0" err="1"/>
              <a:t>DeepFace</a:t>
            </a:r>
            <a:endParaRPr lang="en-IN" dirty="0"/>
          </a:p>
          <a:p>
            <a:pPr marL="285750" indent="-285750">
              <a:buFont typeface="Courier New" panose="02070309020205020404" pitchFamily="49" charset="0"/>
              <a:buChar char="o"/>
            </a:pPr>
            <a:r>
              <a:rPr lang="en-IN" dirty="0" err="1"/>
              <a:t>MediaPipe</a:t>
            </a:r>
            <a:r>
              <a:rPr lang="en-IN" dirty="0"/>
              <a:t> Face Mesh</a:t>
            </a:r>
          </a:p>
          <a:p>
            <a:pPr marL="285750" indent="-285750">
              <a:buFont typeface="Courier New" panose="02070309020205020404" pitchFamily="49" charset="0"/>
              <a:buChar char="o"/>
            </a:pPr>
            <a:r>
              <a:rPr lang="en-IN" dirty="0"/>
              <a:t>wav2vec 2.0</a:t>
            </a:r>
          </a:p>
          <a:p>
            <a:pPr marL="285750" indent="-285750">
              <a:buFont typeface="Courier New" panose="02070309020205020404" pitchFamily="49" charset="0"/>
              <a:buChar char="o"/>
            </a:pPr>
            <a:r>
              <a:rPr lang="en-IN" dirty="0"/>
              <a:t>NumPy</a:t>
            </a:r>
          </a:p>
          <a:p>
            <a:pPr marL="285750" indent="-285750">
              <a:buFont typeface="Courier New" panose="02070309020205020404" pitchFamily="49" charset="0"/>
              <a:buChar char="o"/>
            </a:pPr>
            <a:r>
              <a:rPr lang="en-IN" dirty="0"/>
              <a:t>Pandas</a:t>
            </a:r>
          </a:p>
          <a:p>
            <a:pPr marL="285750" indent="-285750">
              <a:buFont typeface="Courier New" panose="02070309020205020404" pitchFamily="49" charset="0"/>
              <a:buChar char="o"/>
            </a:pPr>
            <a:r>
              <a:rPr lang="en-IN" dirty="0"/>
              <a:t>Scikit-learn</a:t>
            </a:r>
          </a:p>
        </p:txBody>
      </p:sp>
      <p:sp>
        <p:nvSpPr>
          <p:cNvPr id="5" name="TextBox 4">
            <a:extLst>
              <a:ext uri="{FF2B5EF4-FFF2-40B4-BE49-F238E27FC236}">
                <a16:creationId xmlns:a16="http://schemas.microsoft.com/office/drawing/2014/main" id="{017AFCCA-559D-4517-939E-25054EA1CAEE}"/>
              </a:ext>
            </a:extLst>
          </p:cNvPr>
          <p:cNvSpPr txBox="1"/>
          <p:nvPr/>
        </p:nvSpPr>
        <p:spPr>
          <a:xfrm>
            <a:off x="2494578" y="960064"/>
            <a:ext cx="3668187" cy="328404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IN" b="1" dirty="0"/>
              <a:t>DATABASE &amp; STORAGE : </a:t>
            </a:r>
          </a:p>
          <a:p>
            <a:pPr marL="285750" indent="-285750">
              <a:lnSpc>
                <a:spcPct val="150000"/>
              </a:lnSpc>
              <a:buFont typeface="Courier New" panose="02070309020205020404" pitchFamily="49" charset="0"/>
              <a:buChar char="o"/>
            </a:pPr>
            <a:r>
              <a:rPr lang="en-IN" dirty="0"/>
              <a:t>MongoDB Atlas-</a:t>
            </a:r>
          </a:p>
          <a:p>
            <a:pPr marL="285750" indent="-285750">
              <a:lnSpc>
                <a:spcPct val="150000"/>
              </a:lnSpc>
              <a:buFont typeface="Arial" panose="020B0604020202020204" pitchFamily="34" charset="0"/>
              <a:buChar char="•"/>
            </a:pPr>
            <a:r>
              <a:rPr lang="en-IN" dirty="0"/>
              <a:t>Vector Search </a:t>
            </a:r>
          </a:p>
          <a:p>
            <a:pPr marL="285750" indent="-285750">
              <a:lnSpc>
                <a:spcPct val="150000"/>
              </a:lnSpc>
              <a:buFont typeface="Arial" panose="020B0604020202020204" pitchFamily="34" charset="0"/>
              <a:buChar char="•"/>
            </a:pPr>
            <a:r>
              <a:rPr lang="en-IN" dirty="0"/>
              <a:t>Session Data</a:t>
            </a:r>
          </a:p>
          <a:p>
            <a:pPr marL="285750" indent="-285750">
              <a:lnSpc>
                <a:spcPct val="150000"/>
              </a:lnSpc>
              <a:buFont typeface="Courier New" panose="02070309020205020404" pitchFamily="49" charset="0"/>
              <a:buChar char="o"/>
            </a:pPr>
            <a:r>
              <a:rPr lang="en-IN" dirty="0"/>
              <a:t>Redis-</a:t>
            </a:r>
          </a:p>
          <a:p>
            <a:pPr marL="285750" indent="-285750">
              <a:lnSpc>
                <a:spcPct val="150000"/>
              </a:lnSpc>
              <a:buFont typeface="Arial" panose="020B0604020202020204" pitchFamily="34" charset="0"/>
              <a:buChar char="•"/>
            </a:pPr>
            <a:r>
              <a:rPr lang="en-IN" dirty="0"/>
              <a:t>Caching</a:t>
            </a:r>
          </a:p>
          <a:p>
            <a:pPr marL="285750" indent="-285750">
              <a:lnSpc>
                <a:spcPct val="150000"/>
              </a:lnSpc>
              <a:buFont typeface="Arial" panose="020B0604020202020204" pitchFamily="34" charset="0"/>
              <a:buChar char="•"/>
            </a:pPr>
            <a:r>
              <a:rPr lang="en-IN" dirty="0"/>
              <a:t>Real-time Data	</a:t>
            </a:r>
          </a:p>
          <a:p>
            <a:pPr marL="285750" indent="-285750">
              <a:lnSpc>
                <a:spcPct val="150000"/>
              </a:lnSpc>
              <a:buFont typeface="Courier New" panose="02070309020205020404" pitchFamily="49" charset="0"/>
              <a:buChar char="o"/>
            </a:pPr>
            <a:r>
              <a:rPr lang="en-IN" dirty="0"/>
              <a:t> AWS S3-</a:t>
            </a:r>
          </a:p>
          <a:p>
            <a:pPr marL="285750" indent="-285750">
              <a:lnSpc>
                <a:spcPct val="150000"/>
              </a:lnSpc>
              <a:buFont typeface="Arial" panose="020B0604020202020204" pitchFamily="34" charset="0"/>
              <a:buChar char="•"/>
            </a:pPr>
            <a:r>
              <a:rPr lang="en-IN" dirty="0"/>
              <a:t>Video/Audio Storage</a:t>
            </a:r>
          </a:p>
          <a:p>
            <a:pPr marL="285750" indent="-285750">
              <a:lnSpc>
                <a:spcPct val="150000"/>
              </a:lnSpc>
              <a:buFont typeface="Arial" panose="020B0604020202020204" pitchFamily="34" charset="0"/>
              <a:buChar char="•"/>
            </a:pPr>
            <a:r>
              <a:rPr lang="en-IN" dirty="0"/>
              <a:t>PDF Reports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TotalTime>
  <Words>401</Words>
  <Application>Microsoft Office PowerPoint</Application>
  <PresentationFormat>On-screen Show (16:9)</PresentationFormat>
  <Paragraphs>58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Manrope SemiBold</vt:lpstr>
      <vt:lpstr>Courier New</vt:lpstr>
      <vt:lpstr>Manrope</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SAON DEY</dc:creator>
  <cp:lastModifiedBy>SAON DEY</cp:lastModifiedBy>
  <cp:revision>28</cp:revision>
  <dcterms:modified xsi:type="dcterms:W3CDTF">2026-02-15T15:43:18Z</dcterms:modified>
</cp:coreProperties>
</file>